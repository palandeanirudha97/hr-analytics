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02" r:id="rId1"/>
  </p:sldMasterIdLst>
  <p:notesMasterIdLst>
    <p:notesMasterId r:id="rId17"/>
  </p:notesMasterIdLst>
  <p:sldIdLst>
    <p:sldId id="256" r:id="rId2"/>
    <p:sldId id="258" r:id="rId3"/>
    <p:sldId id="262" r:id="rId4"/>
    <p:sldId id="279" r:id="rId5"/>
    <p:sldId id="260" r:id="rId6"/>
    <p:sldId id="275" r:id="rId7"/>
    <p:sldId id="261" r:id="rId8"/>
    <p:sldId id="264" r:id="rId9"/>
    <p:sldId id="265" r:id="rId10"/>
    <p:sldId id="263" r:id="rId11"/>
    <p:sldId id="266" r:id="rId12"/>
    <p:sldId id="267" r:id="rId13"/>
    <p:sldId id="273" r:id="rId14"/>
    <p:sldId id="276"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17BC42D-312C-41AE-B835-7154FA9ED8B9}">
          <p14:sldIdLst>
            <p14:sldId id="256"/>
            <p14:sldId id="258"/>
            <p14:sldId id="262"/>
            <p14:sldId id="279"/>
            <p14:sldId id="260"/>
            <p14:sldId id="275"/>
            <p14:sldId id="261"/>
            <p14:sldId id="264"/>
            <p14:sldId id="265"/>
            <p14:sldId id="263"/>
            <p14:sldId id="266"/>
            <p14:sldId id="267"/>
          </p14:sldIdLst>
        </p14:section>
        <p14:section name="Untitled Section" id="{83202DDB-982C-4DD4-93E0-78365A7721B7}">
          <p14:sldIdLst>
            <p14:sldId id="273"/>
            <p14:sldId id="276"/>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85" autoAdjust="0"/>
    <p:restoredTop sz="94660"/>
  </p:normalViewPr>
  <p:slideViewPr>
    <p:cSldViewPr snapToGrid="0">
      <p:cViewPr varScale="1">
        <p:scale>
          <a:sx n="78" d="100"/>
          <a:sy n="78" d="100"/>
        </p:scale>
        <p:origin x="6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ABBFB-F505-4CD4-9716-3B1324F1E563}" type="datetimeFigureOut">
              <a:rPr lang="en-IN" smtClean="0"/>
              <a:t>18-05-2026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0BEC32-E4CD-474A-A421-FCE18F5B4C12}" type="slidenum">
              <a:rPr lang="en-IN" smtClean="0"/>
              <a:t>‹#›</a:t>
            </a:fld>
            <a:endParaRPr lang="en-IN"/>
          </a:p>
        </p:txBody>
      </p:sp>
    </p:spTree>
    <p:extLst>
      <p:ext uri="{BB962C8B-B14F-4D97-AF65-F5344CB8AC3E}">
        <p14:creationId xmlns:p14="http://schemas.microsoft.com/office/powerpoint/2010/main" val="2353326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0BEC32-E4CD-474A-A421-FCE18F5B4C12}" type="slidenum">
              <a:rPr lang="en-IN" smtClean="0"/>
              <a:t>8</a:t>
            </a:fld>
            <a:endParaRPr lang="en-IN"/>
          </a:p>
        </p:txBody>
      </p:sp>
    </p:spTree>
    <p:extLst>
      <p:ext uri="{BB962C8B-B14F-4D97-AF65-F5344CB8AC3E}">
        <p14:creationId xmlns:p14="http://schemas.microsoft.com/office/powerpoint/2010/main" val="41754856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smtClean="0"/>
              <a:pPr/>
              <a:t>5/18/2026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
              </a:t>
            </a:r>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5308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5/18/2026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289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5/18/2026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1542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5/18/2026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67070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5/18/2026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2240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5/18/2026</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7436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5/18/2026</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40369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smtClean="0"/>
              <a:t>5/18/2026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90244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5/18/2026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7649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E451C3-0FF4-47C4-B829-773ADF60F88C}" type="datetimeFigureOut">
              <a:rPr lang="en-US" smtClean="0"/>
              <a:t>5/18/2026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475980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5/18/2026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451220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5/18/2026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3822863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smtClean="0"/>
              <a:t>5/18/2026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1433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BE451C3-0FF4-47C4-B829-773ADF60F88C}" type="datetimeFigureOut">
              <a:rPr lang="en-US" smtClean="0"/>
              <a:t>5/18/2026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1773400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BE451C3-0FF4-47C4-B829-773ADF60F88C}" type="datetimeFigureOut">
              <a:rPr lang="en-US" smtClean="0"/>
              <a:t>5/18/2026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307374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smtClean="0"/>
              <a:t>5/18/2026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83386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smtClean="0"/>
              <a:t>5/18/2026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58504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smtClean="0"/>
              <a:t>5/18/2026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
              </a:t>
            </a:r>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2046541"/>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 id="214748381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vgsilh.com/607d8b/image/1989146.html" TargetMode="External"/><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89493-A8E2-FB26-1351-CC955A43DEE9}"/>
              </a:ext>
            </a:extLst>
          </p:cNvPr>
          <p:cNvSpPr>
            <a:spLocks noGrp="1"/>
          </p:cNvSpPr>
          <p:nvPr>
            <p:ph type="ctrTitle"/>
          </p:nvPr>
        </p:nvSpPr>
        <p:spPr>
          <a:xfrm>
            <a:off x="1130318" y="2631421"/>
            <a:ext cx="8825658" cy="2677648"/>
          </a:xfrm>
        </p:spPr>
        <p:txBody>
          <a:bodyPr/>
          <a:lstStyle/>
          <a:p>
            <a:r>
              <a:rPr lang="en-US" b="1" dirty="0">
                <a:solidFill>
                  <a:schemeClr val="bg1"/>
                </a:solidFill>
              </a:rPr>
              <a:t>HR. Analytics PROJECT </a:t>
            </a:r>
            <a:endParaRPr lang="en-IN" b="1" dirty="0">
              <a:solidFill>
                <a:schemeClr val="bg1"/>
              </a:solidFill>
            </a:endParaRPr>
          </a:p>
        </p:txBody>
      </p:sp>
      <p:sp>
        <p:nvSpPr>
          <p:cNvPr id="3" name="Subtitle 2">
            <a:extLst>
              <a:ext uri="{FF2B5EF4-FFF2-40B4-BE49-F238E27FC236}">
                <a16:creationId xmlns:a16="http://schemas.microsoft.com/office/drawing/2014/main" id="{E514008D-C265-FE79-C493-FD6403B8EC1D}"/>
              </a:ext>
            </a:extLst>
          </p:cNvPr>
          <p:cNvSpPr>
            <a:spLocks noGrp="1"/>
          </p:cNvSpPr>
          <p:nvPr>
            <p:ph type="subTitle" idx="1"/>
          </p:nvPr>
        </p:nvSpPr>
        <p:spPr>
          <a:xfrm>
            <a:off x="1218017" y="5447625"/>
            <a:ext cx="8825658" cy="861420"/>
          </a:xfrm>
        </p:spPr>
        <p:txBody>
          <a:bodyPr/>
          <a:lstStyle/>
          <a:p>
            <a:pPr algn="r"/>
            <a:r>
              <a:rPr lang="en-US" b="1" dirty="0"/>
              <a:t>Group 3</a:t>
            </a:r>
          </a:p>
          <a:p>
            <a:endParaRPr lang="en-IN" dirty="0"/>
          </a:p>
        </p:txBody>
      </p:sp>
      <p:pic>
        <p:nvPicPr>
          <p:cNvPr id="5" name="Graphic 4">
            <a:extLst>
              <a:ext uri="{FF2B5EF4-FFF2-40B4-BE49-F238E27FC236}">
                <a16:creationId xmlns:a16="http://schemas.microsoft.com/office/drawing/2014/main" id="{E67FAFB4-BE94-7CE0-4C80-8284E7B4D28D}"/>
              </a:ext>
            </a:extLst>
          </p:cNvPr>
          <p:cNvPicPr>
            <a:picLocks noChangeAspect="1"/>
          </p:cNvPicPr>
          <p:nvPr/>
        </p:nvPicPr>
        <p:blipFill>
          <a:blip>
            <a:extLs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a:off x="6392822" y="548955"/>
            <a:ext cx="5355144" cy="3786561"/>
          </a:xfrm>
          <a:prstGeom prst="rect">
            <a:avLst/>
          </a:prstGeom>
        </p:spPr>
      </p:pic>
    </p:spTree>
    <p:extLst>
      <p:ext uri="{BB962C8B-B14F-4D97-AF65-F5344CB8AC3E}">
        <p14:creationId xmlns:p14="http://schemas.microsoft.com/office/powerpoint/2010/main" val="3439425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61B7-B0CD-F32C-E341-556C90529D53}"/>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76F4B036-7D8B-CD87-B39A-B4E8EE0AAF16}"/>
              </a:ext>
            </a:extLst>
          </p:cNvPr>
          <p:cNvSpPr>
            <a:spLocks noGrp="1"/>
          </p:cNvSpPr>
          <p:nvPr>
            <p:ph idx="1"/>
          </p:nvPr>
        </p:nvSpPr>
        <p:spPr/>
        <p:txBody>
          <a:bodyPr/>
          <a:lstStyle/>
          <a:p>
            <a:pPr>
              <a:defRPr sz="2000">
                <a:solidFill>
                  <a:srgbClr val="FFFFFF"/>
                </a:solidFill>
              </a:defRPr>
            </a:pPr>
            <a:r>
              <a:rPr lang="en-US" dirty="0">
                <a:solidFill>
                  <a:schemeClr val="tx1">
                    <a:lumMod val="95000"/>
                    <a:lumOff val="5000"/>
                  </a:schemeClr>
                </a:solidFill>
              </a:rPr>
              <a:t>HR Analytics helps organizations analyze employee data to improve workforce performance, employee satisfaction, and business productivity.</a:t>
            </a:r>
            <a:br>
              <a:rPr lang="en-US" dirty="0">
                <a:solidFill>
                  <a:schemeClr val="tx1">
                    <a:lumMod val="95000"/>
                    <a:lumOff val="5000"/>
                  </a:schemeClr>
                </a:solidFill>
              </a:rPr>
            </a:br>
            <a:br>
              <a:rPr lang="en-US" dirty="0">
                <a:solidFill>
                  <a:schemeClr val="tx1">
                    <a:lumMod val="95000"/>
                    <a:lumOff val="5000"/>
                  </a:schemeClr>
                </a:solidFill>
              </a:rPr>
            </a:br>
            <a:r>
              <a:rPr lang="en-US" dirty="0">
                <a:solidFill>
                  <a:schemeClr val="tx1">
                    <a:lumMod val="95000"/>
                    <a:lumOff val="5000"/>
                  </a:schemeClr>
                </a:solidFill>
              </a:rPr>
              <a:t>This project focuses on transforming raw HR data into meaningful insights using Excel, SQL, Tableau, and Power BI.</a:t>
            </a:r>
          </a:p>
          <a:p>
            <a:pPr marL="0" indent="0">
              <a:buNone/>
            </a:pPr>
            <a:endParaRPr lang="en-IN" dirty="0">
              <a:solidFill>
                <a:schemeClr val="tx1">
                  <a:lumMod val="95000"/>
                  <a:lumOff val="5000"/>
                </a:schemeClr>
              </a:solidFill>
            </a:endParaRPr>
          </a:p>
        </p:txBody>
      </p:sp>
    </p:spTree>
    <p:extLst>
      <p:ext uri="{BB962C8B-B14F-4D97-AF65-F5344CB8AC3E}">
        <p14:creationId xmlns:p14="http://schemas.microsoft.com/office/powerpoint/2010/main" val="4239560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Dashboard Tools Used</a:t>
            </a:r>
          </a:p>
        </p:txBody>
      </p:sp>
      <p:sp>
        <p:nvSpPr>
          <p:cNvPr id="3" name="Content Placeholder 2"/>
          <p:cNvSpPr>
            <a:spLocks noGrp="1"/>
          </p:cNvSpPr>
          <p:nvPr>
            <p:ph idx="1"/>
          </p:nvPr>
        </p:nvSpPr>
        <p:spPr/>
        <p:txBody>
          <a:bodyPr/>
          <a:lstStyle/>
          <a:p>
            <a:r>
              <a:t>Excel</a:t>
            </a:r>
          </a:p>
          <a:p>
            <a:r>
              <a:t>Power BI</a:t>
            </a:r>
          </a:p>
          <a:p>
            <a:r>
              <a:t>Tableau</a:t>
            </a:r>
          </a:p>
          <a:p>
            <a:r>
              <a:t>SQL Queries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Flow Process</a:t>
            </a:r>
          </a:p>
        </p:txBody>
      </p:sp>
      <p:sp>
        <p:nvSpPr>
          <p:cNvPr id="3" name="Content Placeholder 2"/>
          <p:cNvSpPr>
            <a:spLocks noGrp="1"/>
          </p:cNvSpPr>
          <p:nvPr>
            <p:ph idx="1"/>
          </p:nvPr>
        </p:nvSpPr>
        <p:spPr>
          <a:xfrm>
            <a:off x="274321" y="2151211"/>
            <a:ext cx="11996927" cy="2192189"/>
          </a:xfrm>
        </p:spPr>
        <p:txBody>
          <a:bodyPr/>
          <a:lstStyle/>
          <a:p>
            <a:pPr>
              <a:defRPr sz="2000">
                <a:solidFill>
                  <a:srgbClr val="FFFFFF"/>
                </a:solidFill>
              </a:defRPr>
            </a:pPr>
            <a:r>
              <a:rPr lang="en-US" dirty="0">
                <a:solidFill>
                  <a:schemeClr val="tx1">
                    <a:lumMod val="95000"/>
                    <a:lumOff val="5000"/>
                  </a:schemeClr>
                </a:solidFill>
              </a:rPr>
              <a:t>Raw Data → Data Cleaning → Data Transformation → Dashboard Creation → Business Insights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580EE-7EAB-18B6-6691-8DE09E53781D}"/>
              </a:ext>
            </a:extLst>
          </p:cNvPr>
          <p:cNvSpPr>
            <a:spLocks noGrp="1"/>
          </p:cNvSpPr>
          <p:nvPr>
            <p:ph type="title"/>
          </p:nvPr>
        </p:nvSpPr>
        <p:spPr/>
        <p:txBody>
          <a:bodyPr/>
          <a:lstStyle/>
          <a:p>
            <a:r>
              <a:rPr lang="en-US" dirty="0"/>
              <a:t>KPI AND INSIGHTS</a:t>
            </a:r>
            <a:endParaRPr lang="en-IN" dirty="0"/>
          </a:p>
        </p:txBody>
      </p:sp>
      <p:sp>
        <p:nvSpPr>
          <p:cNvPr id="3" name="Content Placeholder 2">
            <a:extLst>
              <a:ext uri="{FF2B5EF4-FFF2-40B4-BE49-F238E27FC236}">
                <a16:creationId xmlns:a16="http://schemas.microsoft.com/office/drawing/2014/main" id="{A985E0AB-22BD-453C-7D7F-9E5B644D8142}"/>
              </a:ext>
            </a:extLst>
          </p:cNvPr>
          <p:cNvSpPr>
            <a:spLocks noGrp="1"/>
          </p:cNvSpPr>
          <p:nvPr>
            <p:ph idx="1"/>
          </p:nvPr>
        </p:nvSpPr>
        <p:spPr/>
        <p:txBody>
          <a:bodyPr/>
          <a:lstStyle/>
          <a:p>
            <a:pPr>
              <a:defRPr sz="2000">
                <a:solidFill>
                  <a:srgbClr val="FFFFFF"/>
                </a:solidFill>
              </a:defRPr>
            </a:pPr>
            <a:r>
              <a:rPr lang="en-US" dirty="0">
                <a:solidFill>
                  <a:schemeClr val="tx1">
                    <a:lumMod val="95000"/>
                    <a:lumOff val="5000"/>
                  </a:schemeClr>
                </a:solidFill>
              </a:rPr>
              <a:t>• Attrition is highest in age group 50–60.</a:t>
            </a:r>
            <a:br>
              <a:rPr lang="en-US" dirty="0">
                <a:solidFill>
                  <a:schemeClr val="tx1">
                    <a:lumMod val="95000"/>
                    <a:lumOff val="5000"/>
                  </a:schemeClr>
                </a:solidFill>
              </a:rPr>
            </a:br>
            <a:r>
              <a:rPr lang="en-US" dirty="0">
                <a:solidFill>
                  <a:schemeClr val="tx1">
                    <a:lumMod val="95000"/>
                    <a:lumOff val="5000"/>
                  </a:schemeClr>
                </a:solidFill>
              </a:rPr>
              <a:t>• Research &amp; Development and Sales departments show high attrition.</a:t>
            </a:r>
            <a:br>
              <a:rPr lang="en-US" dirty="0">
                <a:solidFill>
                  <a:schemeClr val="tx1">
                    <a:lumMod val="95000"/>
                    <a:lumOff val="5000"/>
                  </a:schemeClr>
                </a:solidFill>
              </a:rPr>
            </a:br>
            <a:r>
              <a:rPr lang="en-US" dirty="0">
                <a:solidFill>
                  <a:schemeClr val="tx1">
                    <a:lumMod val="95000"/>
                    <a:lumOff val="5000"/>
                  </a:schemeClr>
                </a:solidFill>
              </a:rPr>
              <a:t>• Male and female employee counts are nearly equal.</a:t>
            </a:r>
          </a:p>
        </p:txBody>
      </p:sp>
    </p:spTree>
    <p:extLst>
      <p:ext uri="{BB962C8B-B14F-4D97-AF65-F5344CB8AC3E}">
        <p14:creationId xmlns:p14="http://schemas.microsoft.com/office/powerpoint/2010/main" val="756911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33A70-F55A-8449-1140-53247069CF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14337-3FDD-5B4D-EE79-78B9A7788032}"/>
              </a:ext>
            </a:extLst>
          </p:cNvPr>
          <p:cNvSpPr>
            <a:spLocks noGrp="1"/>
          </p:cNvSpPr>
          <p:nvPr>
            <p:ph type="title"/>
          </p:nvPr>
        </p:nvSpPr>
        <p:spPr/>
        <p:txBody>
          <a:bodyPr/>
          <a:lstStyle/>
          <a:p>
            <a:pPr algn="ctr"/>
            <a:r>
              <a:rPr lang="en-US" dirty="0"/>
              <a:t>        KPI           AND         INSIGHTS     </a:t>
            </a:r>
            <a:endParaRPr lang="en-IN" dirty="0"/>
          </a:p>
        </p:txBody>
      </p:sp>
      <p:sp>
        <p:nvSpPr>
          <p:cNvPr id="4" name="Content Placeholder 3">
            <a:extLst>
              <a:ext uri="{FF2B5EF4-FFF2-40B4-BE49-F238E27FC236}">
                <a16:creationId xmlns:a16="http://schemas.microsoft.com/office/drawing/2014/main" id="{8D4DBF47-C8DA-9212-9354-F9F6B5A0BAF6}"/>
              </a:ext>
            </a:extLst>
          </p:cNvPr>
          <p:cNvSpPr>
            <a:spLocks noGrp="1"/>
          </p:cNvSpPr>
          <p:nvPr>
            <p:ph sz="half" idx="1"/>
          </p:nvPr>
        </p:nvSpPr>
        <p:spPr/>
        <p:txBody>
          <a:bodyPr>
            <a:normAutofit/>
          </a:bodyPr>
          <a:lstStyle/>
          <a:p>
            <a:r>
              <a:rPr lang="en-IN" dirty="0"/>
              <a:t>Employee Count: 50K </a:t>
            </a:r>
          </a:p>
          <a:p>
            <a:r>
              <a:rPr lang="en-IN" dirty="0"/>
              <a:t>Attrition Rate: 50.21%</a:t>
            </a:r>
          </a:p>
          <a:p>
            <a:r>
              <a:rPr lang="en-IN" dirty="0"/>
              <a:t>Average Salary: 26.02K </a:t>
            </a:r>
          </a:p>
          <a:p>
            <a:r>
              <a:rPr lang="en-IN" dirty="0"/>
              <a:t>Average Age: 38.97 </a:t>
            </a:r>
          </a:p>
          <a:p>
            <a:r>
              <a:rPr lang="en-IN" dirty="0"/>
              <a:t>Average Hourly Rate: 115.43 </a:t>
            </a:r>
          </a:p>
          <a:p>
            <a:r>
              <a:rPr lang="en-IN" dirty="0"/>
              <a:t>Work-Life Balance: 2.50</a:t>
            </a:r>
          </a:p>
        </p:txBody>
      </p:sp>
      <p:sp>
        <p:nvSpPr>
          <p:cNvPr id="5" name="Content Placeholder 4">
            <a:extLst>
              <a:ext uri="{FF2B5EF4-FFF2-40B4-BE49-F238E27FC236}">
                <a16:creationId xmlns:a16="http://schemas.microsoft.com/office/drawing/2014/main" id="{91CBB354-9F0B-D580-F136-CB147F9CBDF5}"/>
              </a:ext>
            </a:extLst>
          </p:cNvPr>
          <p:cNvSpPr>
            <a:spLocks noGrp="1"/>
          </p:cNvSpPr>
          <p:nvPr>
            <p:ph sz="half" idx="2"/>
          </p:nvPr>
        </p:nvSpPr>
        <p:spPr/>
        <p:txBody>
          <a:bodyPr>
            <a:normAutofit/>
          </a:bodyPr>
          <a:lstStyle/>
          <a:p>
            <a:r>
              <a:rPr lang="en-IN" dirty="0"/>
              <a:t>Total Employees </a:t>
            </a:r>
            <a:r>
              <a:rPr lang="en-IN" dirty="0" err="1"/>
              <a:t>Analyzed</a:t>
            </a:r>
            <a:r>
              <a:rPr lang="en-IN" dirty="0"/>
              <a:t>: 50K</a:t>
            </a:r>
          </a:p>
          <a:p>
            <a:r>
              <a:rPr lang="en-IN" dirty="0"/>
              <a:t>Overall Attrition Percentage: 50.21%</a:t>
            </a:r>
            <a:r>
              <a:rPr lang="en-US" dirty="0"/>
              <a:t>.</a:t>
            </a:r>
          </a:p>
          <a:p>
            <a:r>
              <a:rPr lang="en-IN" dirty="0"/>
              <a:t>Average Employee Salary: 26.02K</a:t>
            </a:r>
          </a:p>
          <a:p>
            <a:r>
              <a:rPr lang="en-US" dirty="0"/>
              <a:t>Average Workforce Age: 38.97 Years</a:t>
            </a:r>
          </a:p>
          <a:p>
            <a:r>
              <a:rPr lang="en-US" dirty="0"/>
              <a:t>Average Employee Hourly Rate: 115.43</a:t>
            </a:r>
          </a:p>
          <a:p>
            <a:r>
              <a:rPr lang="en-US" dirty="0"/>
              <a:t>Overall Work-Life Balance Score: 2.50</a:t>
            </a:r>
            <a:endParaRPr lang="en-IN" dirty="0"/>
          </a:p>
        </p:txBody>
      </p:sp>
    </p:spTree>
    <p:extLst>
      <p:ext uri="{BB962C8B-B14F-4D97-AF65-F5344CB8AC3E}">
        <p14:creationId xmlns:p14="http://schemas.microsoft.com/office/powerpoint/2010/main" val="1643719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437CB-89D5-DA38-6A79-E3CD4F93F8FE}"/>
              </a:ext>
            </a:extLst>
          </p:cNvPr>
          <p:cNvSpPr>
            <a:spLocks noGrp="1"/>
          </p:cNvSpPr>
          <p:nvPr>
            <p:ph type="title"/>
          </p:nvPr>
        </p:nvSpPr>
        <p:spPr/>
        <p:txBody>
          <a:bodyPr/>
          <a:lstStyle/>
          <a:p>
            <a:r>
              <a:rPr lang="en-US" dirty="0"/>
              <a:t>IMPORTANCE OF FILTTERS </a:t>
            </a:r>
            <a:endParaRPr lang="en-IN" dirty="0"/>
          </a:p>
        </p:txBody>
      </p:sp>
      <p:sp>
        <p:nvSpPr>
          <p:cNvPr id="3" name="Content Placeholder 2">
            <a:extLst>
              <a:ext uri="{FF2B5EF4-FFF2-40B4-BE49-F238E27FC236}">
                <a16:creationId xmlns:a16="http://schemas.microsoft.com/office/drawing/2014/main" id="{7F679567-38D3-1AE6-6592-3A260DE84E4E}"/>
              </a:ext>
            </a:extLst>
          </p:cNvPr>
          <p:cNvSpPr>
            <a:spLocks noGrp="1"/>
          </p:cNvSpPr>
          <p:nvPr>
            <p:ph idx="1"/>
          </p:nvPr>
        </p:nvSpPr>
        <p:spPr>
          <a:xfrm>
            <a:off x="685801" y="2423161"/>
            <a:ext cx="10131425" cy="3971544"/>
          </a:xfrm>
        </p:spPr>
        <p:txBody>
          <a:bodyPr>
            <a:normAutofit fontScale="92500" lnSpcReduction="10000"/>
          </a:bodyPr>
          <a:lstStyle/>
          <a:p>
            <a:r>
              <a:rPr lang="en-US" dirty="0"/>
              <a:t>In the HR Analytics project, filters (also called slicers) play an important role in converting a static dashboard into an interactive analytical tool.</a:t>
            </a:r>
          </a:p>
          <a:p>
            <a:r>
              <a:rPr lang="en-US" dirty="0"/>
              <a:t>Filters help users:</a:t>
            </a:r>
          </a:p>
          <a:p>
            <a:r>
              <a:rPr lang="en-US" dirty="0"/>
              <a:t>Analyze employee data department-wise. </a:t>
            </a:r>
          </a:p>
          <a:p>
            <a:r>
              <a:rPr lang="en-US" dirty="0"/>
              <a:t>Compare attrition between male and female employees. </a:t>
            </a:r>
          </a:p>
          <a:p>
            <a:r>
              <a:rPr lang="en-US" dirty="0"/>
              <a:t>Track work-life balance across different job roles. </a:t>
            </a:r>
          </a:p>
          <a:p>
            <a:r>
              <a:rPr lang="en-US" dirty="0"/>
              <a:t>Identify age groups with higher attrition rates. </a:t>
            </a:r>
          </a:p>
          <a:p>
            <a:r>
              <a:rPr lang="en-US" dirty="0"/>
              <a:t>Monitor promotion trends and employee retention. </a:t>
            </a:r>
          </a:p>
          <a:p>
            <a:r>
              <a:rPr lang="en-US" dirty="0"/>
              <a:t>Perform dynamic and faster HR decision-making. </a:t>
            </a:r>
          </a:p>
          <a:p>
            <a:r>
              <a:rPr lang="en-US" dirty="0"/>
              <a:t>Focus on specific employee segments for deeper analysis. </a:t>
            </a:r>
          </a:p>
          <a:p>
            <a:r>
              <a:rPr lang="en-US" dirty="0"/>
              <a:t>Improve workforce planning and performance evaluation.</a:t>
            </a:r>
          </a:p>
          <a:p>
            <a:pPr marL="0" indent="0">
              <a:buNone/>
            </a:pPr>
            <a:endParaRPr lang="en-IN" dirty="0"/>
          </a:p>
        </p:txBody>
      </p:sp>
    </p:spTree>
    <p:extLst>
      <p:ext uri="{BB962C8B-B14F-4D97-AF65-F5344CB8AC3E}">
        <p14:creationId xmlns:p14="http://schemas.microsoft.com/office/powerpoint/2010/main" val="367632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74FA10-7A8B-B549-3B7A-5F7674189AC5}"/>
              </a:ext>
            </a:extLst>
          </p:cNvPr>
          <p:cNvSpPr txBox="1"/>
          <p:nvPr/>
        </p:nvSpPr>
        <p:spPr>
          <a:xfrm>
            <a:off x="1730304" y="59701"/>
            <a:ext cx="7980623" cy="523220"/>
          </a:xfrm>
          <a:prstGeom prst="rect">
            <a:avLst/>
          </a:prstGeom>
          <a:noFill/>
        </p:spPr>
        <p:txBody>
          <a:bodyPr wrap="square">
            <a:spAutoFit/>
          </a:bodyPr>
          <a:lstStyle/>
          <a:p>
            <a:pPr algn="ctr"/>
            <a:r>
              <a:rPr lang="en-IN" sz="2800" b="1" dirty="0">
                <a:solidFill>
                  <a:schemeClr val="accent6">
                    <a:lumMod val="75000"/>
                  </a:schemeClr>
                </a:solidFill>
              </a:rPr>
              <a:t>EXCEL DASHBOARD</a:t>
            </a:r>
          </a:p>
        </p:txBody>
      </p:sp>
      <p:pic>
        <p:nvPicPr>
          <p:cNvPr id="9" name="Picture 8">
            <a:extLst>
              <a:ext uri="{FF2B5EF4-FFF2-40B4-BE49-F238E27FC236}">
                <a16:creationId xmlns:a16="http://schemas.microsoft.com/office/drawing/2014/main" id="{FC44CDF6-2F5A-19E8-7D1B-2B03B61832BE}"/>
              </a:ext>
            </a:extLst>
          </p:cNvPr>
          <p:cNvPicPr>
            <a:picLocks noChangeAspect="1"/>
          </p:cNvPicPr>
          <p:nvPr/>
        </p:nvPicPr>
        <p:blipFill>
          <a:blip r:embed="rId3"/>
          <a:stretch>
            <a:fillRect/>
          </a:stretch>
        </p:blipFill>
        <p:spPr>
          <a:xfrm>
            <a:off x="0" y="598987"/>
            <a:ext cx="12192000" cy="5660025"/>
          </a:xfrm>
          <a:prstGeom prst="rect">
            <a:avLst/>
          </a:prstGeom>
        </p:spPr>
      </p:pic>
    </p:spTree>
    <p:extLst>
      <p:ext uri="{BB962C8B-B14F-4D97-AF65-F5344CB8AC3E}">
        <p14:creationId xmlns:p14="http://schemas.microsoft.com/office/powerpoint/2010/main" val="3562374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A9F24D-35FF-D302-217F-7E44BC4F332F}"/>
              </a:ext>
            </a:extLst>
          </p:cNvPr>
          <p:cNvSpPr txBox="1"/>
          <p:nvPr/>
        </p:nvSpPr>
        <p:spPr>
          <a:xfrm>
            <a:off x="1849176" y="59702"/>
            <a:ext cx="7980623" cy="523220"/>
          </a:xfrm>
          <a:prstGeom prst="rect">
            <a:avLst/>
          </a:prstGeom>
          <a:noFill/>
        </p:spPr>
        <p:txBody>
          <a:bodyPr wrap="square">
            <a:spAutoFit/>
          </a:bodyPr>
          <a:lstStyle/>
          <a:p>
            <a:pPr algn="ctr"/>
            <a:r>
              <a:rPr lang="en-IN" sz="2800" b="1" dirty="0">
                <a:solidFill>
                  <a:schemeClr val="accent6">
                    <a:lumMod val="75000"/>
                  </a:schemeClr>
                </a:solidFill>
              </a:rPr>
              <a:t>TABLEAU DASHBOARD</a:t>
            </a:r>
          </a:p>
        </p:txBody>
      </p:sp>
      <p:pic>
        <p:nvPicPr>
          <p:cNvPr id="3" name="Picture 2" descr="image.png">
            <a:extLst>
              <a:ext uri="{FF2B5EF4-FFF2-40B4-BE49-F238E27FC236}">
                <a16:creationId xmlns:a16="http://schemas.microsoft.com/office/drawing/2014/main" id="{D691F031-6F91-2093-E3FB-C7C3C17D7F36}"/>
              </a:ext>
            </a:extLst>
          </p:cNvPr>
          <p:cNvPicPr>
            <a:picLocks noChangeAspect="1"/>
          </p:cNvPicPr>
          <p:nvPr/>
        </p:nvPicPr>
        <p:blipFill>
          <a:blip r:embed="rId2"/>
          <a:stretch>
            <a:fillRect/>
          </a:stretch>
        </p:blipFill>
        <p:spPr>
          <a:xfrm>
            <a:off x="0" y="730100"/>
            <a:ext cx="12192000" cy="6118692"/>
          </a:xfrm>
          <a:prstGeom prst="rect">
            <a:avLst/>
          </a:prstGeom>
        </p:spPr>
      </p:pic>
      <p:pic>
        <p:nvPicPr>
          <p:cNvPr id="4" name="Picture 3">
            <a:extLst>
              <a:ext uri="{FF2B5EF4-FFF2-40B4-BE49-F238E27FC236}">
                <a16:creationId xmlns:a16="http://schemas.microsoft.com/office/drawing/2014/main" id="{593345F3-5832-7D0C-1E1B-2DA66C945B4A}"/>
              </a:ext>
            </a:extLst>
          </p:cNvPr>
          <p:cNvPicPr>
            <a:picLocks noChangeAspect="1"/>
          </p:cNvPicPr>
          <p:nvPr/>
        </p:nvPicPr>
        <p:blipFill>
          <a:blip r:embed="rId3"/>
          <a:stretch>
            <a:fillRect/>
          </a:stretch>
        </p:blipFill>
        <p:spPr>
          <a:xfrm>
            <a:off x="0" y="582921"/>
            <a:ext cx="12192000" cy="6152253"/>
          </a:xfrm>
          <a:prstGeom prst="rect">
            <a:avLst/>
          </a:prstGeom>
        </p:spPr>
      </p:pic>
    </p:spTree>
    <p:extLst>
      <p:ext uri="{BB962C8B-B14F-4D97-AF65-F5344CB8AC3E}">
        <p14:creationId xmlns:p14="http://schemas.microsoft.com/office/powerpoint/2010/main" val="3829043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4F4629C-C4F8-D2CB-C74D-16617B60143D}"/>
              </a:ext>
            </a:extLst>
          </p:cNvPr>
          <p:cNvSpPr txBox="1"/>
          <p:nvPr/>
        </p:nvSpPr>
        <p:spPr>
          <a:xfrm>
            <a:off x="1730304" y="59701"/>
            <a:ext cx="7980623" cy="523220"/>
          </a:xfrm>
          <a:prstGeom prst="rect">
            <a:avLst/>
          </a:prstGeom>
          <a:noFill/>
        </p:spPr>
        <p:txBody>
          <a:bodyPr wrap="square">
            <a:spAutoFit/>
          </a:bodyPr>
          <a:lstStyle/>
          <a:p>
            <a:pPr algn="ctr"/>
            <a:r>
              <a:rPr lang="en-IN" sz="2800" b="1" dirty="0">
                <a:solidFill>
                  <a:schemeClr val="accent6">
                    <a:lumMod val="75000"/>
                  </a:schemeClr>
                </a:solidFill>
              </a:rPr>
              <a:t>POWER BI DASHBOARD</a:t>
            </a:r>
          </a:p>
        </p:txBody>
      </p:sp>
      <p:pic>
        <p:nvPicPr>
          <p:cNvPr id="2" name="Picture 1" descr="image.png">
            <a:extLst>
              <a:ext uri="{FF2B5EF4-FFF2-40B4-BE49-F238E27FC236}">
                <a16:creationId xmlns:a16="http://schemas.microsoft.com/office/drawing/2014/main" id="{C550A7A5-4CBB-900B-1D31-BC656778E09C}"/>
              </a:ext>
            </a:extLst>
          </p:cNvPr>
          <p:cNvPicPr>
            <a:picLocks noChangeAspect="1"/>
          </p:cNvPicPr>
          <p:nvPr/>
        </p:nvPicPr>
        <p:blipFill>
          <a:blip r:embed="rId2"/>
          <a:stretch>
            <a:fillRect/>
          </a:stretch>
        </p:blipFill>
        <p:spPr>
          <a:xfrm>
            <a:off x="0" y="730100"/>
            <a:ext cx="12192000" cy="6118692"/>
          </a:xfrm>
          <a:prstGeom prst="rect">
            <a:avLst/>
          </a:prstGeom>
        </p:spPr>
      </p:pic>
    </p:spTree>
    <p:extLst>
      <p:ext uri="{BB962C8B-B14F-4D97-AF65-F5344CB8AC3E}">
        <p14:creationId xmlns:p14="http://schemas.microsoft.com/office/powerpoint/2010/main" val="1231018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CF6EC7-128B-8791-B223-9D5DBE9EE086}"/>
              </a:ext>
            </a:extLst>
          </p:cNvPr>
          <p:cNvSpPr txBox="1"/>
          <p:nvPr/>
        </p:nvSpPr>
        <p:spPr>
          <a:xfrm>
            <a:off x="0" y="59701"/>
            <a:ext cx="12192000" cy="523220"/>
          </a:xfrm>
          <a:prstGeom prst="rect">
            <a:avLst/>
          </a:prstGeom>
          <a:noFill/>
        </p:spPr>
        <p:txBody>
          <a:bodyPr wrap="square">
            <a:spAutoFit/>
          </a:bodyPr>
          <a:lstStyle/>
          <a:p>
            <a:pPr algn="ctr"/>
            <a:r>
              <a:rPr lang="en-IN" sz="2800" b="1" dirty="0">
                <a:solidFill>
                  <a:schemeClr val="accent6">
                    <a:lumMod val="75000"/>
                  </a:schemeClr>
                </a:solidFill>
              </a:rPr>
              <a:t>SQL ( STRUCTURED QUERY LANGUAGE )</a:t>
            </a:r>
          </a:p>
        </p:txBody>
      </p:sp>
      <p:pic>
        <p:nvPicPr>
          <p:cNvPr id="3" name="Picture 2">
            <a:extLst>
              <a:ext uri="{FF2B5EF4-FFF2-40B4-BE49-F238E27FC236}">
                <a16:creationId xmlns:a16="http://schemas.microsoft.com/office/drawing/2014/main" id="{C9B97A08-4809-3498-6C01-DDA7C0EDFF1E}"/>
              </a:ext>
            </a:extLst>
          </p:cNvPr>
          <p:cNvPicPr>
            <a:picLocks noChangeAspect="1"/>
          </p:cNvPicPr>
          <p:nvPr/>
        </p:nvPicPr>
        <p:blipFill>
          <a:blip r:embed="rId2"/>
          <a:stretch>
            <a:fillRect/>
          </a:stretch>
        </p:blipFill>
        <p:spPr>
          <a:xfrm>
            <a:off x="0" y="786383"/>
            <a:ext cx="12192000" cy="6011915"/>
          </a:xfrm>
          <a:prstGeom prst="rect">
            <a:avLst/>
          </a:prstGeom>
        </p:spPr>
      </p:pic>
    </p:spTree>
    <p:extLst>
      <p:ext uri="{BB962C8B-B14F-4D97-AF65-F5344CB8AC3E}">
        <p14:creationId xmlns:p14="http://schemas.microsoft.com/office/powerpoint/2010/main" val="2110337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7E902B-441B-8D16-9AB0-969824B2D7D8}"/>
              </a:ext>
            </a:extLst>
          </p:cNvPr>
          <p:cNvPicPr>
            <a:picLocks noChangeAspect="1"/>
          </p:cNvPicPr>
          <p:nvPr/>
        </p:nvPicPr>
        <p:blipFill>
          <a:blip r:embed="rId2"/>
          <a:stretch>
            <a:fillRect/>
          </a:stretch>
        </p:blipFill>
        <p:spPr>
          <a:xfrm>
            <a:off x="0" y="1124712"/>
            <a:ext cx="12192000" cy="4764024"/>
          </a:xfrm>
          <a:prstGeom prst="rect">
            <a:avLst/>
          </a:prstGeom>
        </p:spPr>
      </p:pic>
    </p:spTree>
    <p:extLst>
      <p:ext uri="{BB962C8B-B14F-4D97-AF65-F5344CB8AC3E}">
        <p14:creationId xmlns:p14="http://schemas.microsoft.com/office/powerpoint/2010/main" val="2516217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44830-7AC4-2569-D8CE-D85C9A0DC4D7}"/>
              </a:ext>
            </a:extLst>
          </p:cNvPr>
          <p:cNvSpPr>
            <a:spLocks noGrp="1"/>
          </p:cNvSpPr>
          <p:nvPr>
            <p:ph type="title"/>
          </p:nvPr>
        </p:nvSpPr>
        <p:spPr/>
        <p:txBody>
          <a:bodyPr/>
          <a:lstStyle/>
          <a:p>
            <a:r>
              <a:rPr lang="en-IN" dirty="0"/>
              <a:t>PROJECT SUMMARY</a:t>
            </a:r>
          </a:p>
        </p:txBody>
      </p:sp>
      <p:sp>
        <p:nvSpPr>
          <p:cNvPr id="12" name="Content Placeholder 2">
            <a:extLst>
              <a:ext uri="{FF2B5EF4-FFF2-40B4-BE49-F238E27FC236}">
                <a16:creationId xmlns:a16="http://schemas.microsoft.com/office/drawing/2014/main" id="{08F834DE-F915-30F9-E171-DC0F02297057}"/>
              </a:ext>
            </a:extLst>
          </p:cNvPr>
          <p:cNvSpPr>
            <a:spLocks noGrp="1"/>
          </p:cNvSpPr>
          <p:nvPr>
            <p:ph idx="1"/>
          </p:nvPr>
        </p:nvSpPr>
        <p:spPr>
          <a:xfrm>
            <a:off x="1154954" y="2603500"/>
            <a:ext cx="8825659" cy="3416300"/>
          </a:xfrm>
        </p:spPr>
        <p:txBody>
          <a:bodyPr>
            <a:normAutofit/>
          </a:bodyPr>
          <a:lstStyle/>
          <a:p>
            <a:pPr marL="0" indent="0">
              <a:buNone/>
            </a:pPr>
            <a:r>
              <a:rPr lang="en-US" dirty="0">
                <a:solidFill>
                  <a:schemeClr val="tx1">
                    <a:lumMod val="95000"/>
                    <a:lumOff val="5000"/>
                  </a:schemeClr>
                </a:solidFill>
              </a:rPr>
              <a:t>The project successfully analyzed workforce data and identified attrition trends, salary patterns, and department-wise employee insights. It also helped in understanding employee work-life balance, promotion trends, and workforce distribution across different job roles. The dashboard enables HR teams to make data-driven decisions, improve employee retention strategies, optimize workforce planning, and enhance overall organizational performance through interactive visualizations and KPI tracking.</a:t>
            </a:r>
            <a:endParaRPr lang="en-IN" dirty="0">
              <a:solidFill>
                <a:schemeClr val="tx1">
                  <a:lumMod val="95000"/>
                  <a:lumOff val="5000"/>
                </a:schemeClr>
              </a:solidFill>
            </a:endParaRPr>
          </a:p>
        </p:txBody>
      </p:sp>
    </p:spTree>
    <p:extLst>
      <p:ext uri="{BB962C8B-B14F-4D97-AF65-F5344CB8AC3E}">
        <p14:creationId xmlns:p14="http://schemas.microsoft.com/office/powerpoint/2010/main" val="3503087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37314-CE9F-15E9-F878-26A4EB8D6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528B9-5DCF-E593-D496-F0AD17E9EDB8}"/>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4A80A425-A8AC-6B41-0A43-555A4720A6E0}"/>
              </a:ext>
            </a:extLst>
          </p:cNvPr>
          <p:cNvSpPr>
            <a:spLocks noGrp="1"/>
          </p:cNvSpPr>
          <p:nvPr>
            <p:ph idx="1"/>
          </p:nvPr>
        </p:nvSpPr>
        <p:spPr/>
        <p:txBody>
          <a:bodyPr>
            <a:normAutofit/>
          </a:bodyPr>
          <a:lstStyle/>
          <a:p>
            <a:r>
              <a:rPr lang="en-US" dirty="0"/>
              <a:t>The HR Analytics project transforms raw HR data into actionable insights using Excel, SQL, Tableau, and Power BI. The project helps organizations monitor important HR KPIs such as employee count, attrition rate, salary distribution, work-life balance, and promotion trends. Interactive dashboards and visualizations enable HR teams to analyze department-wise performance, identify workforce patterns, improve employee retention strategies, and support data-driven decision-making for better organizational growth and workforce management.</a:t>
            </a:r>
          </a:p>
        </p:txBody>
      </p:sp>
    </p:spTree>
    <p:extLst>
      <p:ext uri="{BB962C8B-B14F-4D97-AF65-F5344CB8AC3E}">
        <p14:creationId xmlns:p14="http://schemas.microsoft.com/office/powerpoint/2010/main" val="186375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C2C6D-1902-3173-CB95-1670E1D7EDF0}"/>
              </a:ext>
            </a:extLst>
          </p:cNvPr>
          <p:cNvSpPr>
            <a:spLocks noGrp="1"/>
          </p:cNvSpPr>
          <p:nvPr>
            <p:ph type="title"/>
          </p:nvPr>
        </p:nvSpPr>
        <p:spPr/>
        <p:txBody>
          <a:bodyPr/>
          <a:lstStyle/>
          <a:p>
            <a:pPr algn="ctr"/>
            <a:r>
              <a:rPr lang="en-IN" dirty="0"/>
              <a:t>THANK YOU</a:t>
            </a:r>
          </a:p>
        </p:txBody>
      </p:sp>
      <p:sp>
        <p:nvSpPr>
          <p:cNvPr id="3" name="Text Placeholder 2">
            <a:extLst>
              <a:ext uri="{FF2B5EF4-FFF2-40B4-BE49-F238E27FC236}">
                <a16:creationId xmlns:a16="http://schemas.microsoft.com/office/drawing/2014/main" id="{EEAF0EB9-3419-6657-BBA2-616C9310B365}"/>
              </a:ext>
            </a:extLst>
          </p:cNvPr>
          <p:cNvSpPr>
            <a:spLocks noGrp="1"/>
          </p:cNvSpPr>
          <p:nvPr>
            <p:ph type="body" idx="1"/>
          </p:nvPr>
        </p:nvSpPr>
        <p:spPr/>
        <p:txBody>
          <a:bodyPr/>
          <a:lstStyle/>
          <a:p>
            <a:pPr algn="r"/>
            <a:r>
              <a:rPr lang="en-IN" dirty="0"/>
              <a:t>GROUP 3</a:t>
            </a:r>
          </a:p>
        </p:txBody>
      </p:sp>
    </p:spTree>
    <p:extLst>
      <p:ext uri="{BB962C8B-B14F-4D97-AF65-F5344CB8AC3E}">
        <p14:creationId xmlns:p14="http://schemas.microsoft.com/office/powerpoint/2010/main" val="6423990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2669</TotalTime>
  <Words>441</Words>
  <Application>Microsoft Office PowerPoint</Application>
  <PresentationFormat>Widescreen</PresentationFormat>
  <Paragraphs>48</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Century Gothic</vt:lpstr>
      <vt:lpstr>Wingdings 3</vt:lpstr>
      <vt:lpstr>Ion Boardroom</vt:lpstr>
      <vt:lpstr>HR. Analytics PROJECT </vt:lpstr>
      <vt:lpstr>INTRODUCTION</vt:lpstr>
      <vt:lpstr>Dashboard Tools Used</vt:lpstr>
      <vt:lpstr>Data Flow Process</vt:lpstr>
      <vt:lpstr>KPI AND INSIGHTS</vt:lpstr>
      <vt:lpstr>        KPI           AND         INSIGHTS     </vt:lpstr>
      <vt:lpstr>IMPORTANCE OF FILTTERS </vt:lpstr>
      <vt:lpstr>PowerPoint Presentation</vt:lpstr>
      <vt:lpstr>PowerPoint Presentation</vt:lpstr>
      <vt:lpstr>PowerPoint Presentation</vt:lpstr>
      <vt:lpstr>PowerPoint Presentation</vt:lpstr>
      <vt:lpstr>PowerPoint Presentation</vt:lpstr>
      <vt:lpstr>PROJECT SUMMARY</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Lahari Reddy</dc:creator>
  <cp:lastModifiedBy>ANIRUDHA PALANDE</cp:lastModifiedBy>
  <cp:revision>14</cp:revision>
  <dcterms:created xsi:type="dcterms:W3CDTF">2026-01-10T05:29:25Z</dcterms:created>
  <dcterms:modified xsi:type="dcterms:W3CDTF">2026-05-18T15:22:14Z</dcterms:modified>
</cp:coreProperties>
</file>